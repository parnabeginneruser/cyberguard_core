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914400"/>
            <a:ext cx="996696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463040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E5FF"/>
                </a:solidFill>
              </a:defRPr>
            </a:pPr>
            <a:r>
              <a:t>CYBERGUARD</a:t>
            </a:r>
          </a:p>
          <a:p>
            <a:pPr algn="ctr">
              <a:spcBef>
                <a:spcPts val="1200"/>
              </a:spcBef>
              <a:defRPr sz="2000" b="1">
                <a:solidFill>
                  <a:srgbClr val="F0F6FC"/>
                </a:solidFill>
              </a:defRPr>
            </a:pPr>
            <a:r>
              <a:t>Dual-Path AI Network Intrusion Detection &amp; Threat Triage Engine</a:t>
            </a:r>
          </a:p>
          <a:p>
            <a:pPr algn="ctr">
              <a:spcBef>
                <a:spcPts val="800"/>
              </a:spcBef>
              <a:defRPr sz="1400">
                <a:solidFill>
                  <a:srgbClr val="00FF9D"/>
                </a:solidFill>
              </a:defRPr>
            </a:pPr>
            <a:r>
              <a:t>Synchronized Supervised XGBoost Classifier &amp; Unsupervised Keras Deep Autoencoder</a:t>
            </a:r>
          </a:p>
          <a:p>
            <a:pPr algn="ctr">
              <a:spcBef>
                <a:spcPts val="2800"/>
              </a:spcBef>
              <a:defRPr sz="1100">
                <a:solidFill>
                  <a:srgbClr val="8B949E"/>
                </a:solidFill>
              </a:defRPr>
            </a:pPr>
            <a:r>
              <a:t>Executive Briefing &amp; Technical Evaluation Report | Prepared for CISO &amp; Security Architecture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E5FF"/>
                </a:solidFill>
              </a:defRPr>
            </a:pPr>
            <a:r>
              <a:t>Strategic Challenge: The Asymmetric Zero-Day Threat</a:t>
            </a:r>
          </a:p>
          <a:p>
            <a:pPr>
              <a:spcBef>
                <a:spcPts val="400"/>
              </a:spcBef>
              <a:defRPr sz="1200">
                <a:solidFill>
                  <a:srgbClr val="8B949E"/>
                </a:solidFill>
              </a:defRPr>
            </a:pPr>
            <a:r>
              <a:t>Why conventional signature and single-path IDS fail modern enterprise defense.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0055"/>
                </a:solidFill>
              </a:defRPr>
            </a:pPr>
            <a:r>
              <a:t>LIMITATIONS OF CONVENTIONAL IDS</a:t>
            </a:r>
          </a:p>
          <a:p>
            <a:pPr>
              <a:spcBef>
                <a:spcPts val="1000"/>
              </a:spcBef>
              <a:defRPr sz="1150">
                <a:solidFill>
                  <a:srgbClr val="F0F6FC"/>
                </a:solidFill>
              </a:defRPr>
            </a:pPr>
            <a:r>
              <a:t>•  Signature &amp; Supervised Blindspots: Supervised models only detect attack classes present in their training corpus.</a:t>
            </a:r>
          </a:p>
          <a:p>
            <a:pPr>
              <a:spcBef>
                <a:spcPts val="1000"/>
              </a:spcBef>
              <a:defRPr sz="1150">
                <a:solidFill>
                  <a:srgbClr val="F0F6FC"/>
                </a:solidFill>
              </a:defRPr>
            </a:pPr>
            <a:r>
              <a:t>•  Novel Evasion Tunnels: Attackers disguise payloads over legitimate protocols (DNS, SSL, ICMP), appearing as 'Benign' to standard classifiers.</a:t>
            </a:r>
          </a:p>
          <a:p>
            <a:pPr>
              <a:spcBef>
                <a:spcPts val="1000"/>
              </a:spcBef>
              <a:defRPr sz="1150">
                <a:solidFill>
                  <a:srgbClr val="F0F6FC"/>
                </a:solidFill>
              </a:defRPr>
            </a:pPr>
            <a:r>
              <a:t>•  Alert Fatigue: High false-positive rates from noisy statistical anomaly rules overwhelm SOC triage teams.</a:t>
            </a:r>
          </a:p>
          <a:p>
            <a:pPr>
              <a:spcBef>
                <a:spcPts val="1000"/>
              </a:spcBef>
              <a:defRPr sz="1150">
                <a:solidFill>
                  <a:srgbClr val="F0F6FC"/>
                </a:solidFill>
              </a:defRPr>
            </a:pPr>
            <a:r>
              <a:t>•  Asymmetric Attacker Advantage: Novel zero-day exploits dwell inside enterprise perimeters for an average of 200+ days undetected.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THE CYBERGUARD DUAL-PATH PARADIGM</a:t>
            </a:r>
          </a:p>
          <a:p>
            <a:pPr>
              <a:spcBef>
                <a:spcPts val="1000"/>
              </a:spcBef>
              <a:defRPr sz="1150">
                <a:solidFill>
                  <a:srgbClr val="F0F6FC"/>
                </a:solidFill>
              </a:defRPr>
            </a:pPr>
            <a:r>
              <a:t>•  Path A (Supervised XGBoost): High-throughput, microsecond classification of known threat signatures (DoS, PortScan, SSH BruteForce, Botnets).</a:t>
            </a:r>
          </a:p>
          <a:p>
            <a:pPr>
              <a:spcBef>
                <a:spcPts val="1000"/>
              </a:spcBef>
              <a:defRPr sz="1150">
                <a:solidFill>
                  <a:srgbClr val="F0F6FC"/>
                </a:solidFill>
              </a:defRPr>
            </a:pPr>
            <a:r>
              <a:t>•  Path B (Keras Deep Autoencoder): Unsupervised manifold learning strictly on benign telemetry to isolate abnormal reconstruction errors.</a:t>
            </a:r>
          </a:p>
          <a:p>
            <a:pPr>
              <a:spcBef>
                <a:spcPts val="1000"/>
              </a:spcBef>
              <a:defRPr sz="1150">
                <a:solidFill>
                  <a:srgbClr val="F0F6FC"/>
                </a:solidFill>
              </a:defRPr>
            </a:pPr>
            <a:r>
              <a:t>•  Hybrid Threat Fusion: Correlates signature confidence with latent reconstruction delta to expose zero-day exploits evading Path A.</a:t>
            </a:r>
          </a:p>
          <a:p>
            <a:pPr>
              <a:spcBef>
                <a:spcPts val="1000"/>
              </a:spcBef>
              <a:defRPr sz="1150">
                <a:solidFill>
                  <a:srgbClr val="F0F6FC"/>
                </a:solidFill>
              </a:defRPr>
            </a:pPr>
            <a:r>
              <a:t>•  Actionable Triage: Automatically categorizes threat severity (Low, Medium, High, Critical) with explainable telemetry reasoning.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E5FF"/>
                </a:solidFill>
              </a:defRPr>
            </a:pPr>
            <a:r>
              <a:t>Path A: Known Threat Classification Engine (XGBoost)</a:t>
            </a:r>
          </a:p>
          <a:p>
            <a:pPr>
              <a:spcBef>
                <a:spcPts val="400"/>
              </a:spcBef>
              <a:defRPr sz="1200">
                <a:solidFill>
                  <a:srgbClr val="8B949E"/>
                </a:solidFill>
              </a:defRPr>
            </a:pPr>
            <a:r>
              <a:t>Supervised multi-class decision tree ensemble evaluated across 3,600 test network flows.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438912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F9D"/>
                </a:solidFill>
              </a:defRPr>
            </a:pPr>
            <a:r>
              <a:t>CLASSIFICATION ACCURACY</a:t>
            </a:r>
          </a:p>
          <a:p>
            <a:pPr>
              <a:spcBef>
                <a:spcPts val="200"/>
              </a:spcBef>
              <a:defRPr sz="2200" b="1">
                <a:solidFill>
                  <a:srgbClr val="F0F6FC"/>
                </a:solidFill>
              </a:defRPr>
            </a:pPr>
            <a:r>
              <a:t>100.00%</a:t>
            </a:r>
          </a:p>
          <a:p>
            <a:pPr>
              <a:spcBef>
                <a:spcPts val="200"/>
              </a:spcBef>
              <a:defRPr sz="950">
                <a:solidFill>
                  <a:srgbClr val="8B949E"/>
                </a:solidFill>
              </a:defRPr>
            </a:pPr>
            <a:r>
              <a:t>3,600 / 3,600 test flows correctly classified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438912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WEIGHTED F1-SCORE</a:t>
            </a:r>
          </a:p>
          <a:p>
            <a:pPr>
              <a:spcBef>
                <a:spcPts val="200"/>
              </a:spcBef>
              <a:defRPr sz="2200" b="1">
                <a:solidFill>
                  <a:srgbClr val="F0F6FC"/>
                </a:solidFill>
              </a:defRPr>
            </a:pPr>
            <a:r>
              <a:t>1.0000</a:t>
            </a:r>
          </a:p>
          <a:p>
            <a:pPr>
              <a:spcBef>
                <a:spcPts val="200"/>
              </a:spcBef>
              <a:defRPr sz="950">
                <a:solidFill>
                  <a:srgbClr val="8B949E"/>
                </a:solidFill>
              </a:defRPr>
            </a:pPr>
            <a:r>
              <a:t>Balanced precision &amp; recall across all attack classes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438912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00"/>
                </a:solidFill>
              </a:defRPr>
            </a:pPr>
            <a:r>
              <a:t>INFERENCE LATENCY</a:t>
            </a:r>
          </a:p>
          <a:p>
            <a:pPr>
              <a:spcBef>
                <a:spcPts val="200"/>
              </a:spcBef>
              <a:defRPr sz="2200" b="1">
                <a:solidFill>
                  <a:srgbClr val="F0F6FC"/>
                </a:solidFill>
              </a:defRPr>
            </a:pPr>
            <a:r>
              <a:t>&lt; 1.2 ms</a:t>
            </a:r>
          </a:p>
          <a:p>
            <a:pPr>
              <a:spcBef>
                <a:spcPts val="200"/>
              </a:spcBef>
              <a:defRPr sz="950">
                <a:solidFill>
                  <a:srgbClr val="8B949E"/>
                </a:solidFill>
              </a:defRPr>
            </a:pPr>
            <a:r>
              <a:t>Sub-millisecond line-rate inspection speed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63040"/>
            <a:ext cx="6035040" cy="46901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E5FF"/>
                </a:solidFill>
              </a:defRPr>
            </a:pPr>
            <a:r>
              <a:t>Path B: Zero-Day Anomaly Detection (Deep Autoencoder)</a:t>
            </a:r>
          </a:p>
          <a:p>
            <a:pPr>
              <a:spcBef>
                <a:spcPts val="400"/>
              </a:spcBef>
              <a:defRPr sz="1200">
                <a:solidFill>
                  <a:srgbClr val="8B949E"/>
                </a:solidFill>
              </a:defRPr>
            </a:pPr>
            <a:r>
              <a:t>Unsupervised manifold compression with dynamic thresholding for novel exploit isolation.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438912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F9D"/>
                </a:solidFill>
              </a:defRPr>
            </a:pPr>
            <a:r>
              <a:t>ZERO-DAY TPR (CATCH RATE)</a:t>
            </a:r>
          </a:p>
          <a:p>
            <a:pPr>
              <a:spcBef>
                <a:spcPts val="200"/>
              </a:spcBef>
              <a:defRPr sz="2200" b="1">
                <a:solidFill>
                  <a:srgbClr val="F0F6FC"/>
                </a:solidFill>
              </a:defRPr>
            </a:pPr>
            <a:r>
              <a:t>100.00%</a:t>
            </a:r>
          </a:p>
          <a:p>
            <a:pPr>
              <a:spcBef>
                <a:spcPts val="200"/>
              </a:spcBef>
              <a:defRPr sz="950">
                <a:solidFill>
                  <a:srgbClr val="8B949E"/>
                </a:solidFill>
              </a:defRPr>
            </a:pPr>
            <a:r>
              <a:t>1,600 / 1,600 unseen zero-day attacks intercepted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438912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BENIGN FALSE POSITIVE RATE</a:t>
            </a:r>
          </a:p>
          <a:p>
            <a:pPr>
              <a:spcBef>
                <a:spcPts val="200"/>
              </a:spcBef>
              <a:defRPr sz="2200" b="1">
                <a:solidFill>
                  <a:srgbClr val="F0F6FC"/>
                </a:solidFill>
              </a:defRPr>
            </a:pPr>
            <a:r>
              <a:t>1.04%</a:t>
            </a:r>
          </a:p>
          <a:p>
            <a:pPr>
              <a:spcBef>
                <a:spcPts val="200"/>
              </a:spcBef>
              <a:defRPr sz="950">
                <a:solidFill>
                  <a:srgbClr val="8B949E"/>
                </a:solidFill>
              </a:defRPr>
            </a:pPr>
            <a:r>
              <a:t>25 / 2,400 benign flows exceeded threshold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438912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0055"/>
                </a:solidFill>
              </a:defRPr>
            </a:pPr>
            <a:r>
              <a:t>DYNAMIC THRESHOLD (T)</a:t>
            </a:r>
          </a:p>
          <a:p>
            <a:pPr>
              <a:spcBef>
                <a:spcPts val="200"/>
              </a:spcBef>
              <a:defRPr sz="2200" b="1">
                <a:solidFill>
                  <a:srgbClr val="F0F6FC"/>
                </a:solidFill>
              </a:defRPr>
            </a:pPr>
            <a:r>
              <a:t>0.4326</a:t>
            </a:r>
          </a:p>
          <a:p>
            <a:pPr>
              <a:spcBef>
                <a:spcPts val="200"/>
              </a:spcBef>
              <a:defRPr sz="950">
                <a:solidFill>
                  <a:srgbClr val="8B949E"/>
                </a:solidFill>
              </a:defRPr>
            </a:pPr>
            <a:r>
              <a:t>Computed via max(p98.5, mean + 3*std)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63040"/>
            <a:ext cx="6035040" cy="41108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E5FF"/>
                </a:solidFill>
              </a:defRPr>
            </a:pPr>
            <a:r>
              <a:t>Telemetry Feature Importance &amp; Attack Indicators</a:t>
            </a:r>
          </a:p>
          <a:p>
            <a:pPr>
              <a:spcBef>
                <a:spcPts val="400"/>
              </a:spcBef>
              <a:defRPr sz="1200">
                <a:solidFill>
                  <a:srgbClr val="8B949E"/>
                </a:solidFill>
              </a:defRPr>
            </a:pPr>
            <a:r>
              <a:t>Key discriminators identified across high-dimensional network flow metrics.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407737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463040"/>
            <a:ext cx="475488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NETWORK TELEMETRY INSIGHTS</a:t>
            </a:r>
          </a:p>
          <a:p>
            <a:pPr>
              <a:spcBef>
                <a:spcPts val="800"/>
              </a:spcBef>
              <a:defRPr sz="1050">
                <a:solidFill>
                  <a:srgbClr val="F0F6FC"/>
                </a:solidFill>
              </a:defRPr>
            </a:pPr>
            <a:r>
              <a:t>•  dst_host_count: Reflects vertical/horizontal network scanning and distributed reconnaissance attempts.</a:t>
            </a:r>
          </a:p>
          <a:p>
            <a:pPr>
              <a:spcBef>
                <a:spcPts val="800"/>
              </a:spcBef>
              <a:defRPr sz="1050">
                <a:solidFill>
                  <a:srgbClr val="F0F6FC"/>
                </a:solidFill>
              </a:defRPr>
            </a:pPr>
            <a:r>
              <a:t>•  diff_srv_rate: High variance in destination service port targeting signals rapid port scanning.</a:t>
            </a:r>
          </a:p>
          <a:p>
            <a:pPr>
              <a:spcBef>
                <a:spcPts val="800"/>
              </a:spcBef>
              <a:defRPr sz="1050">
                <a:solidFill>
                  <a:srgbClr val="F0F6FC"/>
                </a:solidFill>
              </a:defRPr>
            </a:pPr>
            <a:r>
              <a:t>•  packet_rate &amp; byte_rate: Extreme volumetric bursts characterize DoS/DDoS SYN/HTTP floods.</a:t>
            </a:r>
          </a:p>
          <a:p>
            <a:pPr>
              <a:spcBef>
                <a:spcPts val="800"/>
              </a:spcBef>
              <a:defRPr sz="1050">
                <a:solidFill>
                  <a:srgbClr val="F0F6FC"/>
                </a:solidFill>
              </a:defRPr>
            </a:pPr>
            <a:r>
              <a:t>•  failed_logins: Direct indicator of brute-force dictionary attacks against SSH/RDP services.</a:t>
            </a:r>
          </a:p>
          <a:p>
            <a:pPr>
              <a:spcBef>
                <a:spcPts val="800"/>
              </a:spcBef>
              <a:defRPr sz="1050">
                <a:solidFill>
                  <a:srgbClr val="F0F6FC"/>
                </a:solidFill>
              </a:defRPr>
            </a:pPr>
            <a:r>
              <a:t>•  Reconstruction MSE (Path B): Captures non-linear subtle correlations in payload byte ratios and flow lifetimes.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E5FF"/>
                </a:solidFill>
              </a:defRPr>
            </a:pPr>
            <a:r>
              <a:t>Executive Recommendations &amp; Operational Deployment</a:t>
            </a:r>
          </a:p>
          <a:p>
            <a:pPr>
              <a:spcBef>
                <a:spcPts val="400"/>
              </a:spcBef>
              <a:defRPr sz="1200">
                <a:solidFill>
                  <a:srgbClr val="8B949E"/>
                </a:solidFill>
              </a:defRPr>
            </a:pPr>
            <a:r>
              <a:t>Actionable roadmap for enterprise SIEM/SOAR integration and continuous learning.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1. Real-Time SIEM / SOAR Ingestion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Stream packet flow telemetry via Kafka/Suricata into CyberGuard inference containers. Direct high-severity alerts into Splunk/Sentinel.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0055"/>
                </a:solidFill>
              </a:defRPr>
            </a:pPr>
            <a:r>
              <a:t>2. Automated Threat Quarantine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Trigger firewall (Palo Alto/Fortinet) BGP blackholing or zero-trust host isolation on CRITICAL severity zero-day detections.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F9D"/>
                </a:solidFill>
              </a:defRPr>
            </a:pPr>
            <a:r>
              <a:t>3. Unsupervised Baseline Retraining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Schedule weekly retraining of the Path B Autoencoder to adapt to benign enterprise network drift and new internal microservices.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023360"/>
            <a:ext cx="51206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20624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4. Analyst Feedback Loop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Route SUSPECTED_ZERO_DAY flows to Tier 3 SOC analysts. Confirmed zero-days are labeled and fed back to retrain Path A XGBoost.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